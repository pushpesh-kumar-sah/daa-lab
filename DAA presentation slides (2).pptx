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21ec56c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021ec56c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021ec56c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021ec56c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199bd5d57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199bd5d5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199bd5d5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199bd5d5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199bd5d57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199bd5d57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199bd5d57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199bd5d57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a3349be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a3349be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199bd5d57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199bd5d57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1d4ccac4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1d4ccac4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1d4ccac4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1d4ccac4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1d4ccac4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1d4ccac4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341625" y="194750"/>
            <a:ext cx="5561700" cy="27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Delivery Route Optimization System</a:t>
            </a:r>
            <a:endParaRPr b="1" sz="4500">
              <a:solidFill>
                <a:srgbClr val="FFFF00"/>
              </a:solidFill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673300" y="3368825"/>
            <a:ext cx="3470700" cy="16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43"/>
              <a:t>TEAM MEMBERS:</a:t>
            </a:r>
            <a:endParaRPr b="1" sz="134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-35857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 sz="2408"/>
              <a:t>Pushpesh Kumar Sah</a:t>
            </a:r>
            <a:endParaRPr b="1" sz="2408"/>
          </a:p>
          <a:p>
            <a:pPr indent="-35857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 sz="2408"/>
              <a:t>Avinash KR</a:t>
            </a:r>
            <a:endParaRPr b="1" sz="2408"/>
          </a:p>
          <a:p>
            <a:pPr indent="-35857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 sz="2408"/>
              <a:t>Nithin J</a:t>
            </a:r>
            <a:endParaRPr b="1" sz="240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147100" y="135350"/>
            <a:ext cx="7846500" cy="26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33">
                <a:solidFill>
                  <a:srgbClr val="FF0000"/>
                </a:solidFill>
              </a:rPr>
              <a:t>PROBLEM STATEMENT: </a:t>
            </a:r>
            <a:endParaRPr b="1" sz="2333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66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Companies need to deliver goods efficiently to multiple locations.</a:t>
            </a:r>
            <a:br>
              <a:rPr lang="en-GB" sz="2000">
                <a:latin typeface="Arial"/>
                <a:ea typeface="Arial"/>
                <a:cs typeface="Arial"/>
                <a:sym typeface="Arial"/>
              </a:rPr>
            </a:br>
            <a:endParaRPr sz="65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Goal: Minimize fuel cost, travel time, and overall distance.</a:t>
            </a:r>
            <a:br>
              <a:rPr lang="en-GB" sz="2000">
                <a:latin typeface="Arial"/>
                <a:ea typeface="Arial"/>
                <a:cs typeface="Arial"/>
                <a:sym typeface="Arial"/>
              </a:rPr>
            </a:br>
            <a:endParaRPr sz="65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Input: Warehouse (source), delivery locations, and distances between them</a:t>
            </a:r>
            <a:br>
              <a:rPr lang="en-GB" sz="2000">
                <a:latin typeface="Arial"/>
                <a:ea typeface="Arial"/>
                <a:cs typeface="Arial"/>
                <a:sym typeface="Arial"/>
              </a:rPr>
            </a:br>
            <a:endParaRPr sz="65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Output: Optimized delivery routes and minimum network cost.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2887550"/>
            <a:ext cx="7846500" cy="23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Approach:</a:t>
            </a:r>
            <a:endParaRPr b="1" sz="2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Represent data using Graph (Adjacency Matrix)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Apply Greedy-based algorithms: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Dijkstra → Shortest path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Prim → Minimum network cost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67425" y="82425"/>
            <a:ext cx="70389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/>
              <a:t>Graph Representation: </a:t>
            </a:r>
            <a:endParaRPr b="1" sz="2100"/>
          </a:p>
        </p:txBody>
      </p:sp>
      <p:pic>
        <p:nvPicPr>
          <p:cNvPr id="147" name="Google Shape;147;p15" title="unnamed.jpg"/>
          <p:cNvPicPr preferRelativeResize="0"/>
          <p:nvPr/>
        </p:nvPicPr>
        <p:blipFill rotWithShape="1">
          <a:blip r:embed="rId3">
            <a:alphaModFix/>
          </a:blip>
          <a:srcRect b="-2320" l="-2100" r="2100" t="2320"/>
          <a:stretch/>
        </p:blipFill>
        <p:spPr>
          <a:xfrm>
            <a:off x="1267425" y="626825"/>
            <a:ext cx="4989002" cy="4215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15"/>
          <p:cNvSpPr txBox="1"/>
          <p:nvPr/>
        </p:nvSpPr>
        <p:spPr>
          <a:xfrm>
            <a:off x="6256425" y="626825"/>
            <a:ext cx="2737200" cy="27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●"/>
            </a:pPr>
            <a:r>
              <a:rPr b="1"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Nodes → Cities</a:t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●"/>
            </a:pPr>
            <a:r>
              <a:rPr b="1" lang="en-GB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Edges → Distance between cities</a:t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07275" y="1381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★"/>
            </a:pPr>
            <a:r>
              <a:rPr b="1" lang="en-GB" sz="2500"/>
              <a:t>Greedy Algorithm:</a:t>
            </a:r>
            <a:endParaRPr b="1" sz="2500"/>
          </a:p>
        </p:txBody>
      </p:sp>
      <p:sp>
        <p:nvSpPr>
          <p:cNvPr id="154" name="Google Shape;154;p16"/>
          <p:cNvSpPr txBox="1"/>
          <p:nvPr/>
        </p:nvSpPr>
        <p:spPr>
          <a:xfrm>
            <a:off x="2120550" y="1819750"/>
            <a:ext cx="65874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Makes the best choice at each step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Focuses on local optimum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Does not consider future consequences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Simple and efficient approach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Used in: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      </a:t>
            </a: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Dijkstra's Algorithm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      Prim's Algorithm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1207275" y="902375"/>
            <a:ext cx="73242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➔"/>
            </a:pPr>
            <a:r>
              <a:rPr b="1" lang="en-GB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logic do our algorithms follow</a:t>
            </a:r>
            <a:endParaRPr b="1"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★"/>
            </a:pPr>
            <a:r>
              <a:rPr b="1" lang="en-GB" sz="2500"/>
              <a:t> Dijkstra Algorithm:</a:t>
            </a:r>
            <a:endParaRPr b="1" sz="2500"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2004350" y="22323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 Finds shortest path from a source node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Uses greedy approach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Selects nearest unvisited node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Updates distances step-by-step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297500" y="1112350"/>
            <a:ext cx="61812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➔"/>
            </a:pPr>
            <a:r>
              <a:rPr b="1" lang="en-GB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How do we actually find the shortest delivery route?</a:t>
            </a:r>
            <a:endParaRPr b="1"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★"/>
            </a:pPr>
            <a:r>
              <a:rPr b="1" lang="en-GB" sz="2700"/>
              <a:t>Prim’s Algorithm:</a:t>
            </a:r>
            <a:endParaRPr b="1" sz="2700"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1297500" y="1191575"/>
            <a:ext cx="70389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➔"/>
            </a:pPr>
            <a:r>
              <a:rPr b="1" lang="en-GB" sz="2300"/>
              <a:t>How do we connect all cities with minimum total cost?</a:t>
            </a:r>
            <a:endParaRPr b="1" sz="2300"/>
          </a:p>
        </p:txBody>
      </p:sp>
      <p:sp>
        <p:nvSpPr>
          <p:cNvPr id="169" name="Google Shape;169;p18"/>
          <p:cNvSpPr txBox="1"/>
          <p:nvPr/>
        </p:nvSpPr>
        <p:spPr>
          <a:xfrm>
            <a:off x="2255900" y="2301175"/>
            <a:ext cx="5955600" cy="24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ato"/>
              <a:buChar char="●"/>
            </a:pPr>
            <a:r>
              <a:rPr lang="en-GB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Connects all nodes with minimum cost</a:t>
            </a:r>
            <a:endParaRPr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ato"/>
              <a:buChar char="●"/>
            </a:pPr>
            <a:r>
              <a:rPr lang="en-GB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Uses greedy approach</a:t>
            </a:r>
            <a:endParaRPr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ato"/>
              <a:buChar char="●"/>
            </a:pPr>
            <a:r>
              <a:rPr lang="en-GB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Selects smallest edge at each step</a:t>
            </a:r>
            <a:endParaRPr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ato"/>
              <a:buChar char="●"/>
            </a:pPr>
            <a:r>
              <a:rPr lang="en-GB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Avoids cycles</a:t>
            </a:r>
            <a:endParaRPr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★"/>
            </a:pPr>
            <a:r>
              <a:rPr b="1" lang="en-GB" sz="2600"/>
              <a:t>Combined Optimization:</a:t>
            </a:r>
            <a:endParaRPr b="1" sz="2600"/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1297500" y="1086275"/>
            <a:ext cx="70389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➔"/>
            </a:pPr>
            <a:r>
              <a:rPr b="1" lang="en-GB" sz="2200"/>
              <a:t>What if we care about both time and cost together?</a:t>
            </a:r>
            <a:endParaRPr b="1" sz="2200"/>
          </a:p>
        </p:txBody>
      </p:sp>
      <p:sp>
        <p:nvSpPr>
          <p:cNvPr id="176" name="Google Shape;176;p19"/>
          <p:cNvSpPr txBox="1"/>
          <p:nvPr/>
        </p:nvSpPr>
        <p:spPr>
          <a:xfrm>
            <a:off x="2120550" y="1789775"/>
            <a:ext cx="5985600" cy="18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n-GB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Real-world problems involve multiple factors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n-GB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Distance and cost both affect delivery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n-GB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Combine both using weighted formula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●"/>
            </a:pPr>
            <a:r>
              <a:rPr lang="en-GB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W=α⋅D+β⋅C</a:t>
            </a:r>
            <a:endParaRPr b="1" sz="13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3444025" y="3083100"/>
            <a:ext cx="67677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b="1" lang="en-GB" sz="1300">
                <a:solidFill>
                  <a:schemeClr val="lt1"/>
                </a:solidFill>
              </a:rPr>
              <a:t>W</a:t>
            </a:r>
            <a:r>
              <a:rPr lang="en-GB" sz="1300">
                <a:solidFill>
                  <a:schemeClr val="lt1"/>
                </a:solidFill>
              </a:rPr>
              <a:t> → </a:t>
            </a:r>
            <a:r>
              <a:rPr b="1" lang="en-GB" sz="1300">
                <a:solidFill>
                  <a:schemeClr val="lt1"/>
                </a:solidFill>
              </a:rPr>
              <a:t>Weight</a:t>
            </a:r>
            <a:r>
              <a:rPr lang="en-GB" sz="1300">
                <a:solidFill>
                  <a:schemeClr val="lt1"/>
                </a:solidFill>
              </a:rPr>
              <a:t> or </a:t>
            </a:r>
            <a:r>
              <a:rPr b="1" lang="en-GB" sz="1300">
                <a:solidFill>
                  <a:schemeClr val="lt1"/>
                </a:solidFill>
              </a:rPr>
              <a:t>Final Score</a:t>
            </a:r>
            <a:r>
              <a:rPr lang="en-GB" sz="1300">
                <a:solidFill>
                  <a:schemeClr val="lt1"/>
                </a:solidFill>
              </a:rPr>
              <a:t> (the result)</a:t>
            </a:r>
            <a:endParaRPr sz="13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b="1" lang="en-GB" sz="1300">
                <a:solidFill>
                  <a:schemeClr val="lt1"/>
                </a:solidFill>
              </a:rPr>
              <a:t>α</a:t>
            </a:r>
            <a:r>
              <a:rPr lang="en-GB" sz="1300">
                <a:solidFill>
                  <a:schemeClr val="lt1"/>
                </a:solidFill>
              </a:rPr>
              <a:t> → </a:t>
            </a:r>
            <a:r>
              <a:rPr b="1" lang="en-GB" sz="1300">
                <a:solidFill>
                  <a:schemeClr val="lt1"/>
                </a:solidFill>
              </a:rPr>
              <a:t>Weight factor for D</a:t>
            </a:r>
            <a:r>
              <a:rPr lang="en-GB" sz="1300">
                <a:solidFill>
                  <a:schemeClr val="lt1"/>
                </a:solidFill>
              </a:rPr>
              <a:t> (importance of D)</a:t>
            </a:r>
            <a:endParaRPr sz="13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b="1" lang="en-GB" sz="1300">
                <a:solidFill>
                  <a:schemeClr val="lt1"/>
                </a:solidFill>
              </a:rPr>
              <a:t>D</a:t>
            </a:r>
            <a:r>
              <a:rPr lang="en-GB" sz="1300">
                <a:solidFill>
                  <a:schemeClr val="lt1"/>
                </a:solidFill>
              </a:rPr>
              <a:t> → </a:t>
            </a:r>
            <a:r>
              <a:rPr b="1" lang="en-GB" sz="1300">
                <a:solidFill>
                  <a:schemeClr val="lt1"/>
                </a:solidFill>
              </a:rPr>
              <a:t>First component</a:t>
            </a:r>
            <a:r>
              <a:rPr lang="en-GB" sz="1300">
                <a:solidFill>
                  <a:schemeClr val="lt1"/>
                </a:solidFill>
              </a:rPr>
              <a:t> (e.g., Distance, Delay, or Data)</a:t>
            </a:r>
            <a:endParaRPr sz="13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b="1" lang="en-GB" sz="1300">
                <a:solidFill>
                  <a:schemeClr val="lt1"/>
                </a:solidFill>
              </a:rPr>
              <a:t>β</a:t>
            </a:r>
            <a:r>
              <a:rPr lang="en-GB" sz="1300">
                <a:solidFill>
                  <a:schemeClr val="lt1"/>
                </a:solidFill>
              </a:rPr>
              <a:t> → </a:t>
            </a:r>
            <a:r>
              <a:rPr b="1" lang="en-GB" sz="1300">
                <a:solidFill>
                  <a:schemeClr val="lt1"/>
                </a:solidFill>
              </a:rPr>
              <a:t>Weight factor for C</a:t>
            </a:r>
            <a:r>
              <a:rPr lang="en-GB" sz="1300">
                <a:solidFill>
                  <a:schemeClr val="lt1"/>
                </a:solidFill>
              </a:rPr>
              <a:t> (importance of C)</a:t>
            </a:r>
            <a:endParaRPr sz="13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b="1" lang="en-GB" sz="1300">
                <a:solidFill>
                  <a:schemeClr val="lt1"/>
                </a:solidFill>
              </a:rPr>
              <a:t>C</a:t>
            </a:r>
            <a:r>
              <a:rPr lang="en-GB" sz="1300">
                <a:solidFill>
                  <a:schemeClr val="lt1"/>
                </a:solidFill>
              </a:rPr>
              <a:t> → </a:t>
            </a:r>
            <a:r>
              <a:rPr b="1" lang="en-GB" sz="1300">
                <a:solidFill>
                  <a:schemeClr val="lt1"/>
                </a:solidFill>
              </a:rPr>
              <a:t>Second component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0" title="unnam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4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/>
              <a:t>Result Analysis:</a:t>
            </a:r>
            <a:endParaRPr b="1" sz="2500"/>
          </a:p>
        </p:txBody>
      </p:sp>
      <p:sp>
        <p:nvSpPr>
          <p:cNvPr id="190" name="Google Shape;190;p21"/>
          <p:cNvSpPr txBox="1"/>
          <p:nvPr/>
        </p:nvSpPr>
        <p:spPr>
          <a:xfrm>
            <a:off x="1809300" y="1158025"/>
            <a:ext cx="6527100" cy="3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➢"/>
            </a:pPr>
            <a:r>
              <a:rPr b="1" lang="en-GB" sz="1800">
                <a:solidFill>
                  <a:schemeClr val="lt1"/>
                </a:solidFill>
              </a:rPr>
              <a:t>Dijkstra's Algorithm: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→ Finds fastest route from source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→ Example: 0 → 2 → 1 = </a:t>
            </a:r>
            <a:r>
              <a:rPr b="1" lang="en-GB" sz="1800">
                <a:solidFill>
                  <a:schemeClr val="lt1"/>
                </a:solidFill>
              </a:rPr>
              <a:t>3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➢"/>
            </a:pPr>
            <a:r>
              <a:rPr b="1" lang="en-GB" sz="1800">
                <a:solidFill>
                  <a:schemeClr val="lt1"/>
                </a:solidFill>
              </a:rPr>
              <a:t>Prim's Algorithm: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→ Connects all cities with minimum cost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→ Total cost = </a:t>
            </a:r>
            <a:r>
              <a:rPr b="1" lang="en-GB" sz="1800">
                <a:solidFill>
                  <a:schemeClr val="lt1"/>
                </a:solidFill>
              </a:rPr>
              <a:t>10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➢"/>
            </a:pPr>
            <a:r>
              <a:rPr b="1" lang="en-GB" sz="1800">
                <a:solidFill>
                  <a:schemeClr val="lt1"/>
                </a:solidFill>
              </a:rPr>
              <a:t>Combined Optimization: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→ Considers both distance and cost</a:t>
            </a:r>
            <a:br>
              <a:rPr lang="en-GB" sz="1800">
                <a:solidFill>
                  <a:schemeClr val="lt1"/>
                </a:solidFill>
              </a:rPr>
            </a:br>
            <a:r>
              <a:rPr lang="en-GB" sz="1800">
                <a:solidFill>
                  <a:schemeClr val="lt1"/>
                </a:solidFill>
              </a:rPr>
              <a:t> → Produces a balanced solution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Arial"/>
                <a:ea typeface="Arial"/>
                <a:cs typeface="Arial"/>
                <a:sym typeface="Arial"/>
              </a:rPr>
              <a:t>Real-Life Applications:</a:t>
            </a:r>
            <a:endParaRPr b="1" sz="3800"/>
          </a:p>
        </p:txBody>
      </p:sp>
      <p:sp>
        <p:nvSpPr>
          <p:cNvPr id="196" name="Google Shape;196;p22"/>
          <p:cNvSpPr txBox="1"/>
          <p:nvPr>
            <p:ph idx="1" type="body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Delivery and logistics optimization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Route planning in transportation systems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Ride-sharing and navigation systems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Network design (internet, telecom)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Supply chain and distribution management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/>
              <a:t>Conclusion:</a:t>
            </a:r>
            <a:endParaRPr b="1" sz="2600"/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1297500" y="11765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Graph models real-world delivery network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Greedy approach enables efficient decision-making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Dijkstra's Algorithm → shortest path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Prim's Algorithm → minimum cost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Combined approach → real-world optimization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